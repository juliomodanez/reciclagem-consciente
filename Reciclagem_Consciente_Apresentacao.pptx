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2926080"/>
            <a:ext cx="7589520" cy="5486400"/>
          </a:xfrm>
          <a:prstGeom prst="ellipse">
            <a:avLst/>
          </a:prstGeom>
          <a:solidFill>
            <a:srgbClr val="2EA55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-914400"/>
            <a:ext cx="2926080" cy="2926080"/>
          </a:xfrm>
          <a:prstGeom prst="ellipse">
            <a:avLst/>
          </a:prstGeom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0" y="-365760"/>
            <a:ext cx="1828800" cy="1828800"/>
          </a:xfrm>
          <a:prstGeom prst="ellipse">
            <a:avLst/>
          </a:prstGeom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4173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EA55A"/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" y="1517904"/>
            <a:ext cx="256032" cy="256032"/>
          </a:xfrm>
          <a:prstGeom prst="ellipse">
            <a:avLst/>
          </a:prstGeom>
          <a:solidFill>
            <a:srgbClr val="0D3B2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638" y="1566550"/>
            <a:ext cx="158740" cy="1587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RECICLAGEM CONSCIENTE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205740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Separe </a:t>
            </a:r>
            <a:pPr indent="0" marL="0">
              <a:lnSpc>
                <a:spcPts val="5800"/>
              </a:lnSpc>
              <a:buNone/>
            </a:pPr>
            <a:r>
              <a:rPr lang="en-US" sz="6000" b="1" i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certo.</a:t>
            </a:r>
            <a:pPr indent="0" marL="0">
              <a:lnSpc>
                <a:spcPts val="5800"/>
              </a:lnSpc>
              <a:buNone/>
            </a:pPr>
            <a:endParaRPr lang="en-US" sz="6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 o mundo.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914400" y="47091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guia direto para famílias e empresas que querem fazer parte da solução — e entender como cooperativas e a economia circular fecham esse ciclo.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separação faz toda a diferença?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lixo chega misturado às cooperativas, até </a:t>
            </a:r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0D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dos materiais recicláveis são desperdiçados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contaminados por restos de comida ou separados incorretamente. Cada gesto na sua casa ou empresa tem impacto direto na viabilidade da reciclagem.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21040" y="173736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F0C04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87452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2600" b="1" dirty="0">
                <a:solidFill>
                  <a:srgbClr val="0D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 mi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D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toneladas de lixo/ano no Brasil. Apenas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D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~4% recicladas.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2542032" cy="2331720"/>
          </a:xfrm>
          <a:prstGeom prst="roundRect">
            <a:avLst>
              <a:gd name="adj" fmla="val 5490"/>
            </a:avLst>
          </a:prstGeom>
          <a:solidFill>
            <a:srgbClr val="0D3B2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886200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96112" y="4846320"/>
            <a:ext cx="202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energia economizada ao reciclar alumínio vs. produção primária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19856" y="3611880"/>
            <a:ext cx="2542032" cy="2331720"/>
          </a:xfrm>
          <a:prstGeom prst="roundRect">
            <a:avLst>
              <a:gd name="adj" fmla="val 5490"/>
            </a:avLst>
          </a:prstGeom>
          <a:solidFill>
            <a:srgbClr val="0D3B2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11296" y="3886200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3675888" y="4846320"/>
            <a:ext cx="202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 salvas por tonelada de papel reciclado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9632" y="3611880"/>
            <a:ext cx="2542032" cy="2331720"/>
          </a:xfrm>
          <a:prstGeom prst="roundRect">
            <a:avLst>
              <a:gd name="adj" fmla="val 5490"/>
            </a:avLst>
          </a:prstGeom>
          <a:solidFill>
            <a:srgbClr val="0D3B2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91072" y="3886200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6455664" y="4846320"/>
            <a:ext cx="202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recicláveis se perdem por contaminação na triagem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79408" y="3611880"/>
            <a:ext cx="2542032" cy="2331720"/>
          </a:xfrm>
          <a:prstGeom prst="roundRect">
            <a:avLst>
              <a:gd name="adj" fmla="val 5490"/>
            </a:avLst>
          </a:prstGeom>
          <a:solidFill>
            <a:srgbClr val="0D3B2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70848" y="3886200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9235440" y="4846320"/>
            <a:ext cx="202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renda para catadores formalizados em cooperativas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PRÁTICO · CONAMA 275/2001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lixeiras e o que vai em cada uma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11880" cy="2148840"/>
          </a:xfrm>
          <a:prstGeom prst="roundRect">
            <a:avLst>
              <a:gd name="adj" fmla="val 5532"/>
            </a:avLst>
          </a:prstGeom>
          <a:solidFill>
            <a:srgbClr val="DDEE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34540" y="2039112"/>
            <a:ext cx="822960" cy="822960"/>
          </a:xfrm>
          <a:prstGeom prst="ellipse">
            <a:avLst/>
          </a:prstGeom>
          <a:solidFill>
            <a:srgbClr val="1E5FD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224485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986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4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— Papel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2461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04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Jornais, revistas, caixas, papelão, cadernos (secos e limpos)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98848" y="1783080"/>
            <a:ext cx="3611880" cy="2148840"/>
          </a:xfrm>
          <a:prstGeom prst="roundRect">
            <a:avLst>
              <a:gd name="adj" fmla="val 5532"/>
            </a:avLst>
          </a:prstGeom>
          <a:solidFill>
            <a:srgbClr val="FDE8E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93308" y="2039112"/>
            <a:ext cx="822960" cy="822960"/>
          </a:xfrm>
          <a:prstGeom prst="ellipse">
            <a:avLst/>
          </a:prstGeom>
          <a:solidFill>
            <a:srgbClr val="D63B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24485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1728" y="28986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VERMELHO — Plástico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18888" y="32461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Garrafas PET, embalagens, sacolas, potes, canudos, tampas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57616" y="1783080"/>
            <a:ext cx="3611880" cy="2148840"/>
          </a:xfrm>
          <a:prstGeom prst="roundRect">
            <a:avLst>
              <a:gd name="adj" fmla="val 5532"/>
            </a:avLst>
          </a:prstGeom>
          <a:solidFill>
            <a:srgbClr val="DDF5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752076" y="2039112"/>
            <a:ext cx="822960" cy="82296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16" y="224485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0496" y="28986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— Vidro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677656" y="32461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Garrafas, potes, frascos (sem espelhos ou vidro temperado)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169664"/>
            <a:ext cx="3611880" cy="2148840"/>
          </a:xfrm>
          <a:prstGeom prst="roundRect">
            <a:avLst>
              <a:gd name="adj" fmla="val 5532"/>
            </a:avLst>
          </a:prstGeom>
          <a:solidFill>
            <a:srgbClr val="FDF3D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034540" y="4425696"/>
            <a:ext cx="822960" cy="822960"/>
          </a:xfrm>
          <a:prstGeom prst="ellipse">
            <a:avLst/>
          </a:prstGeom>
          <a:solidFill>
            <a:srgbClr val="E0B02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280" y="4631436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2852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AMARELO — Metal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60120" y="5632704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Latas de alumínio e aço, arames, cobre, ferragens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98848" y="4169664"/>
            <a:ext cx="3611880" cy="2148840"/>
          </a:xfrm>
          <a:prstGeom prst="roundRect">
            <a:avLst>
              <a:gd name="adj" fmla="val 5532"/>
            </a:avLst>
          </a:prstGeom>
          <a:solidFill>
            <a:srgbClr val="F0E4D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893308" y="4425696"/>
            <a:ext cx="822960" cy="822960"/>
          </a:xfrm>
          <a:prstGeom prst="ellipse">
            <a:avLst/>
          </a:prstGeom>
          <a:solidFill>
            <a:srgbClr val="9C6B4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4631436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81728" y="52852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MARROM — Orgânico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818888" y="5632704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Restos de comida, cascas, borra de café, resíduos de jardim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357616" y="4169664"/>
            <a:ext cx="3611880" cy="2148840"/>
          </a:xfrm>
          <a:prstGeom prst="roundRect">
            <a:avLst>
              <a:gd name="adj" fmla="val 5532"/>
            </a:avLst>
          </a:prstGeom>
          <a:solidFill>
            <a:srgbClr val="E4E4E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752076" y="4425696"/>
            <a:ext cx="822960" cy="822960"/>
          </a:xfrm>
          <a:prstGeom prst="ellipse">
            <a:avLst/>
          </a:prstGeom>
          <a:solidFill>
            <a:srgbClr val="55585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7816" y="4631436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40496" y="52852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CINZA — Rejeito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677656" y="5632704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Fraldas, guardanapos sujos, isopor, papel higiênico, espelhos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FAMÍLIAS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Hábitos simples que mudam tudo em casa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DDF5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305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Faça isso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3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25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Lave embalagens antes de jogar no reciclável
</a:t>
            </a:r>
            <a:pPr indent="0" marL="0">
              <a:lnSpc>
                <a:spcPts val="2500"/>
              </a:lnSpc>
              <a:buNone/>
            </a:pPr>
            <a:r>
              <a:rPr lang="en-US" sz="13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25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Amasse latas e garrafas PET para ganhar espaço
</a:t>
            </a:r>
            <a:pPr indent="0" marL="0">
              <a:lnSpc>
                <a:spcPts val="2500"/>
              </a:lnSpc>
              <a:buNone/>
            </a:pPr>
            <a:r>
              <a:rPr lang="en-US" sz="13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25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tampas e rótulos quando possível
</a:t>
            </a:r>
            <a:pPr indent="0" marL="0">
              <a:lnSpc>
                <a:spcPts val="2500"/>
              </a:lnSpc>
              <a:buNone/>
            </a:pPr>
            <a:r>
              <a:rPr lang="en-US" sz="13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25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o papel molhado ou engordurado no rejeito
</a:t>
            </a:r>
            <a:pPr indent="0" marL="0">
              <a:lnSpc>
                <a:spcPts val="2500"/>
              </a:lnSpc>
              <a:buNone/>
            </a:pPr>
            <a:r>
              <a:rPr lang="en-US" sz="13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25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pilhas e eletrônicos a pontos de coleta
</a:t>
            </a:r>
            <a:pPr indent="0" marL="0">
              <a:lnSpc>
                <a:spcPts val="2500"/>
              </a:lnSpc>
              <a:buNone/>
            </a:pPr>
            <a:r>
              <a:rPr lang="en-US" sz="13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25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Ensine as crianças com o jogo das cores
</a:t>
            </a:r>
            <a:pPr indent="0" marL="0">
              <a:lnSpc>
                <a:spcPts val="2500"/>
              </a:lnSpc>
              <a:buNone/>
            </a:pPr>
            <a:r>
              <a:rPr lang="en-US" sz="13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25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o dia da coleta seletiva no seu bairro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87452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FDE8E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21305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Evite isso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51760"/>
            <a:ext cx="4754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350" b="1" dirty="0">
                <a:solidFill>
                  <a:srgbClr val="B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ts val="25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Misturar restos de comida com recicláveis
</a:t>
            </a:r>
            <a:pPr indent="0" marL="0">
              <a:lnSpc>
                <a:spcPts val="2500"/>
              </a:lnSpc>
              <a:buNone/>
            </a:pPr>
            <a:r>
              <a:rPr lang="en-US" sz="1350" b="1" dirty="0">
                <a:solidFill>
                  <a:srgbClr val="B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ts val="25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Jogar bituca de cigarro no reciclável
</a:t>
            </a:r>
            <a:pPr indent="0" marL="0">
              <a:lnSpc>
                <a:spcPts val="2500"/>
              </a:lnSpc>
              <a:buNone/>
            </a:pPr>
            <a:r>
              <a:rPr lang="en-US" sz="1350" b="1" dirty="0">
                <a:solidFill>
                  <a:srgbClr val="B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ts val="25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isopor na lixeira de plástico
</a:t>
            </a:r>
            <a:pPr indent="0" marL="0">
              <a:lnSpc>
                <a:spcPts val="2500"/>
              </a:lnSpc>
              <a:buNone/>
            </a:pPr>
            <a:r>
              <a:rPr lang="en-US" sz="1350" b="1" dirty="0">
                <a:solidFill>
                  <a:srgbClr val="B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ts val="25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Jogar espelhos ou vidro laminado no vidro
</a:t>
            </a:r>
            <a:pPr indent="0" marL="0">
              <a:lnSpc>
                <a:spcPts val="2500"/>
              </a:lnSpc>
              <a:buNone/>
            </a:pPr>
            <a:r>
              <a:rPr lang="en-US" sz="1350" b="1" dirty="0">
                <a:solidFill>
                  <a:srgbClr val="B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ts val="25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materiais sujos (contaminam a sacola)
</a:t>
            </a:r>
            <a:pPr indent="0" marL="0">
              <a:lnSpc>
                <a:spcPts val="2500"/>
              </a:lnSpc>
              <a:buNone/>
            </a:pPr>
            <a:r>
              <a:rPr lang="en-US" sz="1350" b="1" dirty="0">
                <a:solidFill>
                  <a:srgbClr val="B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lnSpc>
                <a:spcPts val="25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que "no lixão vão misturar tudo de volta"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EMPRESAS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resíduos como vantagem competitiva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que estruturam sua gestão de resíduos reduzem custos, atendem requisitos legais (PNRS) e constroem reputação sustentável.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394960" cy="3657600"/>
          </a:xfrm>
          <a:prstGeom prst="roundRect">
            <a:avLst>
              <a:gd name="adj" fmla="val 3000"/>
            </a:avLst>
          </a:prstGeom>
          <a:solidFill>
            <a:srgbClr val="F5EDE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76148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739" y="2915107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76148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 internas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356616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2E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Instale coletores identificados em todos os andares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2E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Treine funcionários sobre o que vai em cada coletor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2E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Nomeie um "embaixador da reciclagem" por setor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2E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Adote política de papel dupla-face e menos impressões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2E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 a quantidade de rejeito gerada por mês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2E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metas de reciclagem no relatório ESG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2468880"/>
            <a:ext cx="5394960" cy="3657600"/>
          </a:xfrm>
          <a:prstGeom prst="roundRect">
            <a:avLst>
              <a:gd name="adj" fmla="val 3000"/>
            </a:avLst>
          </a:prstGeom>
          <a:solidFill>
            <a:srgbClr val="F5EDE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0" y="276148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739" y="2915107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76148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Parcerias e logística reversa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720840" y="356616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2E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Firme contrato de coleta seletiva com cooperativa local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2E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as obrigações de logística reversa do setor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2E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Participe de programas de logística reversa de embalagens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2E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 recicláveis de alta qualidade às cooperativas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2E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Comunique o impacto gerado (toneladas, árvores, CO₂)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2E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 certificações como ISO 14001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3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DO MATERIAL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sua lixeira até o novo produto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percurso ajuda a valorizar cada gesto — a cooperativa é o coração desse processo.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1691640" cy="2377440"/>
          </a:xfrm>
          <a:prstGeom prst="roundRect">
            <a:avLst>
              <a:gd name="adj" fmla="val 7027"/>
            </a:avLst>
          </a:prstGeom>
          <a:solidFill>
            <a:srgbClr val="14532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01852" y="3218688"/>
            <a:ext cx="768096" cy="768096"/>
          </a:xfrm>
          <a:prstGeom prst="ellipse">
            <a:avLst/>
          </a:prstGeom>
          <a:solidFill>
            <a:srgbClr val="2EA5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341071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069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" y="434340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Separação na fonte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286000" y="37490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496312" y="2926080"/>
            <a:ext cx="1691640" cy="2377440"/>
          </a:xfrm>
          <a:prstGeom prst="roundRect">
            <a:avLst>
              <a:gd name="adj" fmla="val 7027"/>
            </a:avLst>
          </a:prstGeom>
          <a:solidFill>
            <a:srgbClr val="14532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58084" y="3218688"/>
            <a:ext cx="768096" cy="768096"/>
          </a:xfrm>
          <a:prstGeom prst="ellipse">
            <a:avLst/>
          </a:prstGeom>
          <a:solidFill>
            <a:srgbClr val="2EA5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108" y="341071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96312" y="4069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606040" y="434340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Coleta seletiva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142232" y="37490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4352544" y="2926080"/>
            <a:ext cx="1691640" cy="2377440"/>
          </a:xfrm>
          <a:prstGeom prst="roundRect">
            <a:avLst>
              <a:gd name="adj" fmla="val 7027"/>
            </a:avLst>
          </a:prstGeom>
          <a:solidFill>
            <a:srgbClr val="2EA55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14316" y="3218688"/>
            <a:ext cx="768096" cy="768096"/>
          </a:xfrm>
          <a:prstGeom prst="ellipse">
            <a:avLst/>
          </a:prstGeom>
          <a:solidFill>
            <a:srgbClr val="0D3B2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340" y="3410712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352544" y="4069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462272" y="434340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D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Triagem na cooperativa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998464" y="37490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6208776" y="2926080"/>
            <a:ext cx="1691640" cy="2377440"/>
          </a:xfrm>
          <a:prstGeom prst="roundRect">
            <a:avLst>
              <a:gd name="adj" fmla="val 7027"/>
            </a:avLst>
          </a:prstGeom>
          <a:solidFill>
            <a:srgbClr val="14532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70548" y="3218688"/>
            <a:ext cx="768096" cy="768096"/>
          </a:xfrm>
          <a:prstGeom prst="ellipse">
            <a:avLst/>
          </a:prstGeom>
          <a:solidFill>
            <a:srgbClr val="2EA55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572" y="3410712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08776" y="4069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318504" y="434340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Beneficiamento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7854696" y="37490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8065008" y="2926080"/>
            <a:ext cx="1691640" cy="2377440"/>
          </a:xfrm>
          <a:prstGeom prst="roundRect">
            <a:avLst>
              <a:gd name="adj" fmla="val 7027"/>
            </a:avLst>
          </a:prstGeom>
          <a:solidFill>
            <a:srgbClr val="14532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526780" y="3218688"/>
            <a:ext cx="768096" cy="768096"/>
          </a:xfrm>
          <a:prstGeom prst="ellipse">
            <a:avLst/>
          </a:prstGeom>
          <a:solidFill>
            <a:srgbClr val="2EA55A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8804" y="3410712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065008" y="4069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8174736" y="434340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Indústria recicladora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9710928" y="37490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28"/>
          <p:cNvSpPr/>
          <p:nvPr/>
        </p:nvSpPr>
        <p:spPr>
          <a:xfrm>
            <a:off x="9921240" y="2926080"/>
            <a:ext cx="1691640" cy="2377440"/>
          </a:xfrm>
          <a:prstGeom prst="roundRect">
            <a:avLst>
              <a:gd name="adj" fmla="val 7027"/>
            </a:avLst>
          </a:prstGeom>
          <a:solidFill>
            <a:srgbClr val="14532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10383012" y="3218688"/>
            <a:ext cx="768096" cy="768096"/>
          </a:xfrm>
          <a:prstGeom prst="ellipse">
            <a:avLst/>
          </a:prstGeom>
          <a:solidFill>
            <a:srgbClr val="2EA55A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5036" y="3410712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921240" y="4069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6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10030968" y="4343400"/>
            <a:ext cx="1472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Novo produto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tonelada desviada do aterro reduz emissão de metano e prolonga a vida dos aterros sanitários.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3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CIRCULAR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ciclo que nunca deveria terminar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o modelo "extrair → produzir → descartar" por ciclos fechados, onde os materiais nunca viram lixo — apenas insumo para o próximo ciclo.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697480" cy="3200400"/>
          </a:xfrm>
          <a:prstGeom prst="roundRect">
            <a:avLst>
              <a:gd name="adj" fmla="val 440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3063240"/>
            <a:ext cx="713232" cy="713232"/>
          </a:xfrm>
          <a:prstGeom prst="ellipse">
            <a:avLst/>
          </a:prstGeom>
          <a:solidFill>
            <a:srgbClr val="1453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3241548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931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Logística Reversa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Fabricantes são responsáveis pelos produtos pós-consumo. Cooperativas operacionalizam esse retorno.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547872" y="2743200"/>
            <a:ext cx="2697480" cy="3200400"/>
          </a:xfrm>
          <a:prstGeom prst="roundRect">
            <a:avLst>
              <a:gd name="adj" fmla="val 440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67912" y="3063240"/>
            <a:ext cx="713232" cy="713232"/>
          </a:xfrm>
          <a:prstGeom prst="ellipse">
            <a:avLst/>
          </a:prstGeom>
          <a:solidFill>
            <a:srgbClr val="1453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220" y="3241548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22192" y="3931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Cooperativas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822192" y="45720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central da cadeia: triagem, beneficiamento e comercialização com impacto social e ambiental.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55664" y="2743200"/>
            <a:ext cx="2697480" cy="3200400"/>
          </a:xfrm>
          <a:prstGeom prst="roundRect">
            <a:avLst>
              <a:gd name="adj" fmla="val 440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775704" y="3063240"/>
            <a:ext cx="713232" cy="713232"/>
          </a:xfrm>
          <a:prstGeom prst="ellipse">
            <a:avLst/>
          </a:prstGeom>
          <a:solidFill>
            <a:srgbClr val="14532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12" y="3241548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9984" y="3931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PNRS · Lei 12.305/10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729984" y="45720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legal que define responsabilidade compartilhada e prioriza cooperativas na coleta seletiva.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363456" y="2743200"/>
            <a:ext cx="2697480" cy="3200400"/>
          </a:xfrm>
          <a:prstGeom prst="roundRect">
            <a:avLst>
              <a:gd name="adj" fmla="val 440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683496" y="3063240"/>
            <a:ext cx="713232" cy="713232"/>
          </a:xfrm>
          <a:prstGeom prst="ellipse">
            <a:avLst/>
          </a:prstGeom>
          <a:solidFill>
            <a:srgbClr val="14532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1804" y="3241548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37776" y="3931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Regeneração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637776" y="45720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tonelada desviada do aterro reduz emissão de metano e prolonga a vida dos aterros.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COOPERATIVAS DE RECICLAGEM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apoiar cooperativas locais?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20519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D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social real: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catadores saem da informalidade e têm renda até 3× maior.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76148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2893162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71576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D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de qualidade: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material pré-separado chega mais limpo e rende mais.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360273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3734410"/>
            <a:ext cx="285293" cy="28529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557016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D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local: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dinheiro da reciclagem circula na própria comunidade.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40080" y="444398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4" y="4575658"/>
            <a:ext cx="285293" cy="28529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4398264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D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transparente: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cooperativas bem geridas prestam contas em assembleia.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40080" y="52852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4" y="5416906"/>
            <a:ext cx="285293" cy="28529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71600" y="523951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D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possíveis: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empresas firmam contratos e recebem relatório de impacto.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6949440" y="1920240"/>
            <a:ext cx="4617720" cy="4160520"/>
          </a:xfrm>
          <a:prstGeom prst="roundRect">
            <a:avLst>
              <a:gd name="adj" fmla="val 3077"/>
            </a:avLst>
          </a:prstGeom>
          <a:solidFill>
            <a:srgbClr val="0D3B2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>
            <a:off x="7360920" y="233172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i="1" dirty="0">
                <a:solidFill>
                  <a:srgbClr val="B6E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 resíduo de uma pessoa é o insumo de outra. Quando cooperativas operam bem, esse ciclo nunca para."</a:t>
            </a:r>
            <a:endParaRPr lang="en-US" sz="2100" dirty="0"/>
          </a:p>
        </p:txBody>
      </p:sp>
      <p:sp>
        <p:nvSpPr>
          <p:cNvPr id="21" name="Text 14"/>
          <p:cNvSpPr/>
          <p:nvPr/>
        </p:nvSpPr>
        <p:spPr>
          <a:xfrm>
            <a:off x="7360920" y="41605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Princípio da Economia Circular · Ellen MacArthur Foundation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7360920" y="475488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Brasil há mais de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1.100 cooperativas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catadores cadastradas. Cerca de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mil catadores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dependem da cadeia da reciclagem — a maioria ainda de forma informal.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3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3200400"/>
            <a:ext cx="6675120" cy="6675120"/>
          </a:xfrm>
          <a:prstGeom prst="ellipse">
            <a:avLst/>
          </a:prstGeom>
          <a:solidFill>
            <a:srgbClr val="2EA55A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4480560" y="1005840"/>
            <a:ext cx="32004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5448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Seja parte do </a:t>
            </a:r>
            <a:pPr algn="ctr" indent="0" marL="0">
              <a:buNone/>
            </a:pPr>
            <a:r>
              <a:rPr lang="en-US" sz="5400" b="1" i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ciclo.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2889504" y="2788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6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Pequenas ações cotidianas constroem a economia circular. Comece hoje, envolva sua família e sua empresa.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46608" y="411480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F0C040"/>
          </a:solidFill>
          <a:ln/>
        </p:spPr>
      </p:sp>
      <p:sp>
        <p:nvSpPr>
          <p:cNvPr id="7" name="Text 4"/>
          <p:cNvSpPr/>
          <p:nvPr/>
        </p:nvSpPr>
        <p:spPr>
          <a:xfrm>
            <a:off x="746608" y="4114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  Separe agora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61208" y="4114800"/>
            <a:ext cx="269748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61208" y="41148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Apoie cooperativas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87288" y="411480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87288" y="41148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427568" y="4114800"/>
            <a:ext cx="301752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27568" y="41148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na empresa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Reciclagem Consciente &amp; Economia Circular  ·  PNRS (Lei 12.305/2010)  ·  CONAMA 275/2001  ·  Ellen MacArthur Foundation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Reciclagem Consciente &amp; Economia Circular</dc:title>
  <dc:subject>PptxGenJS Presentation</dc:subject>
  <dc:creator>Reciclagem Consciente</dc:creator>
  <cp:lastModifiedBy>Reciclagem Consciente</cp:lastModifiedBy>
  <cp:revision>1</cp:revision>
  <dcterms:created xsi:type="dcterms:W3CDTF">2026-06-08T20:29:55Z</dcterms:created>
  <dcterms:modified xsi:type="dcterms:W3CDTF">2026-06-08T20:29:55Z</dcterms:modified>
</cp:coreProperties>
</file>